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2937"/>
                </a:solidFill>
                <a:latin typeface="Microsoft YaHei"/>
              </a:rPr>
              <a:t>广东省空气质量形势分析汇报 — 2026年5月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26080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icrosoft YaHei"/>
              </a:rPr>
              <a:t>面向决策的结构化汇报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汇报内容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9047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417320"/>
            <a:ext cx="9509760" cy="438912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1490472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Microsoft YaHei"/>
              </a:rPr>
              <a:t>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0370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130552"/>
            <a:ext cx="9509760" cy="438912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203704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Microsoft YaHei"/>
              </a:rPr>
              <a:t>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169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843784"/>
            <a:ext cx="9509760" cy="438912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916936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Microsoft YaHei"/>
              </a:rPr>
              <a:t>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一、环境空气质量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10332720" cy="2331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1460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4A7C"/>
                </a:solidFill>
                <a:latin typeface="Microsoft YaHei"/>
              </a:rPr>
              <a:t>总体形势、气象条件、城市排名、累计数据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5月空气质量总体向好，臭氧仍是首要压力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0744200" cy="342900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年5月广东省主要污染物同比变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435607"/>
            <a:ext cx="10524744" cy="32095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4892040"/>
            <a:ext cx="10744200" cy="96012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212079"/>
            <a:ext cx="10287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四项主要污染物同比全面下降，AQI达标率上升至95.5%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35040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PM2.5: 16.9→15.6 μg/m³，同比下降7.7%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656831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PM10: 29→26 μg/m³，同比下降10.3%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7278624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NO2: 15→12 μg/m³，同比下降20.0%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7900416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O3: 143→135 μg/m³，同比下降5.6%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气象条件同比分析：气温偏高、小风日数减少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54680" y="1371600"/>
            <a:ext cx="8275320" cy="434340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5月气象条件同比变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481328"/>
            <a:ext cx="8055864" cy="4123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371600"/>
            <a:ext cx="2240280" cy="434340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气温偏高不利于O3消解，但风速增加、小风日数减少有利于扩散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气温: 25.58°C→26.27°C，同比+0.69°C（+2.7%）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63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风速: 2.62 m/s→2.76 m/s，同比+0.14 m/s（+5.49%）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小风日数: 8.57天→6.62天，同比-1.95天（-22.78%）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7997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降水量: 250.37 mm→248.39 mm，同比-1.98 mm（-0.79%）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AQI达标率处于近年同期较好水平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6720840" cy="425196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14-2026年5月广东省主要污染物浓度及AQI达标率历年变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27048"/>
            <a:ext cx="6501383" cy="4032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417320"/>
            <a:ext cx="3337560" cy="4251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PM2.5、PM10、NO2浓度均为2014年以来同期最低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5603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PM2.5 15.6μg/m³为2014年以来同期最低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1821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PM10 26μg/m³为2014年以来同期最低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80390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NO2 12μg/m³为2014年以来同期最低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42569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O3 135μg/m³低于2017年(163)、2024年(164)、2022年(158)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城市污染物浓度差异明显，清远、佛山PM2.5偏高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1417320"/>
            <a:ext cx="6720840" cy="425196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年5月广东省21城市PM2_5浓度排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527048"/>
            <a:ext cx="6501383" cy="4032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417320"/>
            <a:ext cx="3337560" cy="4251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21城市PM2.5浓度在12.5-19.1μg/m³之间，区域差异显著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PM2.5高值: 清远(19.1)、佛山(18.0)、韶关(17.5)、汕头(17.3)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821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PM2.5低值: 深圳(12.5)、珠海(12.7)、东莞(13.2)、中山(13.5)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0390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O3高值: 汕头(157)、惠州(152)、佛山(150)、东莞(149)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2569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O3低值: 韶关(108)、清远(111)、云浮(112)、肇庆(115)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城市同比变化：清远、汕头PM2.5上升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0744200" cy="342900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年5月广东省21城市PM2_5同比变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435607"/>
            <a:ext cx="10524744" cy="32095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4892040"/>
            <a:ext cx="10744200" cy="96012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212079"/>
            <a:ext cx="10287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部分城市污染物浓度同比恶化，需重点关注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35040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PM2.5上升: 清远(+2.1)、汕头(+1.8)、佛山(+1.0)、韶关(+0.9)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656831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PM2.5下降: 潮州(-4.2)、东莞(-3.7)、肇庆(-3.5)、中山(-3.3)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7278624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O3上升: 潮州(+33)、汕头(+28)、东莞(+18)、佛山(+16)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7900416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O3下降: 韶关(-35)、清远(-28)、肇庆(-24)、云浮(-23)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1-5月累计数据：PM2.5全国排名第4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54680" y="1371600"/>
            <a:ext cx="8275320" cy="434340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年1-5月广东省累计污染物同比变化及全国排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481328"/>
            <a:ext cx="8055864" cy="4123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371600"/>
            <a:ext cx="2240280" cy="434340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1-5月PM2.5浓度18.4μg/m³，在31省中排名第4，O3浓度排名第21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PM2.5: 18.4μg/m³，全国排名第4（仅次于北京、河北、天津）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63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O3: 128μg/m³，全国排名第21（处于中下游水平）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PM10: 35μg/m³，全国排名第7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7997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NO2: 16μg/m³，全国排名第12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区县分析：O3高值集中在珠三角核心区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6720840" cy="425196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年5月广东省O3高值区县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27048"/>
            <a:ext cx="6501383" cy="4032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417320"/>
            <a:ext cx="3337560" cy="4251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O3浓度高值区县主要位于广州、佛山、东莞、惠州等珠三角核心城市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5603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O3浓度前10区县: 番禺(175)、顺德(171)、南海(170)、天河(168)、白云(167)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1821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PM2.5浓度前10区县: 清城区(22)、武江区(21)、浈江区(20)、曲江区(20)、榕城区(19)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80390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珠三角核心区O3浓度普遍高于150μg/m³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42569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粤北山区PM2.5浓度相对较高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二、污染特征与成因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10332720" cy="2331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1460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4A7C"/>
                </a:solidFill>
                <a:latin typeface="Microsoft YaHei"/>
              </a:rPr>
              <a:t>站点异常、污染过程、气象分析、重点城市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站点异常分析：90个高值站点以CO异常为主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1600200"/>
            <a:ext cx="4572000" cy="141732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6152" y="198424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Microsoft YaHei"/>
              </a:rPr>
              <a:t>CO异常升高站点: 45个（占比50%）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600200"/>
            <a:ext cx="4572000" cy="141732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98424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Microsoft YaHei"/>
              </a:rPr>
              <a:t>PM2.5异常升高站点: 23个（占比25.6%）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520440"/>
            <a:ext cx="4572000" cy="141732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390448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Microsoft YaHei"/>
              </a:rPr>
              <a:t>O3异常升高站点: 15个（占比16.7%）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520440"/>
            <a:ext cx="4572000" cy="141732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390448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Microsoft YaHei"/>
              </a:rPr>
              <a:t>NO2异常升高站点: 7个（占比7.7%）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污染过程分析：两轮O3污染过程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54680" y="1371600"/>
            <a:ext cx="8275320" cy="434340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ather_s1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481328"/>
            <a:ext cx="8055864" cy="4123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371600"/>
            <a:ext cx="2240280" cy="434340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5月发生两轮O3污染过程，分别出现在5月11-12日和5月28-31日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第一轮(5.11-12): 珠三角9城市出现O3轻度污染，最大值164μg/m³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63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第二轮(5.28-31): 珠三角12城市出现O3轻度污染，最大值172μg/m³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污染期间气温普遍超过30°C，相对湿度低于60%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7997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风速小于2m/s，小风静稳天气不利于污染物扩散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污染成因分析：高温强辐射+低风速促进O3生成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6720840" cy="425196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ather_s16_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27048"/>
            <a:ext cx="6501383" cy="4032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417320"/>
            <a:ext cx="3337560" cy="4251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气象条件与污染过程高度耦合，高温、强辐射、低风速是O3污染的主要驱动力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5603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气温: 污染期间最高气温35-38°C，较非污染日高3-5°C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1821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辐射: 紫外线强度强，光化学反应活跃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80390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风速: 平均风速1.5-2.0m/s，低于月均值(2.76m/s)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42569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湿度: 相对湿度45-60%，有利于O3生成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重点城市分析：汕头、清远、潮州需重点关注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1417320"/>
            <a:ext cx="6720840" cy="425196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年5月广东省21城市O3同比变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527048"/>
            <a:ext cx="6501383" cy="4032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417320"/>
            <a:ext cx="3337560" cy="4251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三城市污染物浓度同比恶化，需针对性管控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汕头: PM2.5同比+1.8μg/m³，O3同比+28μg/m³，双指标恶化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821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清远: PM2.5浓度全省最高(19.1μg/m³)，同比+2.1μg/m³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0390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潮州: O3同比+33μg/m³，为全省最大升幅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2569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东莞: O3同比+18μg/m³，形成"污染孤岛"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东莞"污染孤岛"现象分析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0744200" cy="342900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东莞污染孤岛_与周边城市污染天数及O3同比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435607"/>
            <a:ext cx="10524744" cy="32095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4892040"/>
            <a:ext cx="10744200" cy="96012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212079"/>
            <a:ext cx="10287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东莞O3浓度同比恶化显著，周边城市改善明显，形成"污染孤岛"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35040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O3浓度: 149μg/m³，同比+18μg/m³(+13.7%)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656831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污染天数: 6天O3轻度污染，较2025年同期增加3天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7278624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周边对比: 深圳(-3)、广州(-8)、惠州(-5)均改善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7900416"/>
            <a:ext cx="10195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可能原因: 局地排放强度大、扩散条件不利、前体物浓度高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粤东异常：潮州O3同比大幅上升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54680" y="1371600"/>
            <a:ext cx="8275320" cy="434340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粤东三市O3与PM2_5浓度及同比变化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481328"/>
            <a:ext cx="8055864" cy="4123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371600"/>
            <a:ext cx="2240280" cy="434340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潮州O3浓度同比上升33μg/m³，为全省最大升幅，需重点关注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O3浓度: 141μg/m³，同比+33μg/m³(+30.5%)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63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全省排名: 从2025年同期第15位上升至第6位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污染天数: 3天O3轻度污染，较2025年同期增加2天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7997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可能原因: 工业排放增加、机动车排放、区域输送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三、监测发现的风险问题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10332720" cy="2331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1460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4A7C"/>
                </a:solidFill>
                <a:latin typeface="Microsoft YaHei"/>
              </a:rPr>
              <a:t>CO异常、PM2.5上升、O3污染频发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风险问题1：CO异常升高站点数量多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10332720" cy="2331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1460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4A7C"/>
                </a:solidFill>
                <a:latin typeface="Microsoft YaHei"/>
              </a:rPr>
              <a:t>5月共发现45个CO异常升高站点，占比50%，可能存在燃烧源排放问题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42900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分布特征: 主要集中在珠三角和粤东地区 / 可能原因: 生物质燃烧、工业燃烧、机动车排放 / 风险等级: 高，需排查燃烧源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风险问题2：部分城市PM2.5同比上升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828800"/>
            <a:ext cx="1874519" cy="1965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2410C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57860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/>
              </a:rPr>
              <a:t>清远: PM2.5 19.1μg/m³，同比+2.1μg/m³(+12.4%)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1874519" cy="1965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2410C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57860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/>
              </a:rPr>
              <a:t>汕头: PM2.5 17.3μg/m³，同比+1.8μg/m³(+11.6%)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828800"/>
            <a:ext cx="1874519" cy="1965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2410C"/>
                </a:solidFill>
                <a:latin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2392" y="257860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/>
              </a:rPr>
              <a:t>佛山: PM2.5 18.0μg/m³，同比+1.0μg/m³(+5.9%)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828800"/>
            <a:ext cx="1874519" cy="1965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2410C"/>
                </a:solidFill>
                <a:latin typeface="Microsoft YaHe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257860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/>
              </a:rPr>
              <a:t>韶关: PM2.5 17.5μg/m³，同比+0.9μg/m³(+5.4%)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38360" y="1828800"/>
            <a:ext cx="1874519" cy="1965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2952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2410C"/>
                </a:solidFill>
                <a:latin typeface="Microsoft YaHe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2" y="257860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/>
              </a:rPr>
              <a:t>管控建议: 加强工业源、扬尘源和移动源管控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74A7C"/>
                </a:solidFill>
                <a:latin typeface="Microsoft YaHei"/>
              </a:rPr>
              <a:t>清远、汕头、佛山、韶关等城市PM2.5浓度同比恶化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风险问题3：O3污染频发，污染天数增加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54680" y="1371600"/>
            <a:ext cx="8275320" cy="434340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典型污染日逐小时O3与NO2变化_东莞2026-05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481328"/>
            <a:ext cx="8055864" cy="4123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371600"/>
            <a:ext cx="2240280" cy="434340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5月发生两轮O3污染过程，珠三角12城市出现O3轻度污染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污染过程: 两轮O3污染过程(5.11-12, 5.28-31)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63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影响城市: 珠三角12城市出现O3轻度污染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最大值: 172μg/m³(5月28日，佛山)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7997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同比变化: 汕头(+28)、潮州(+33)、东莞(+18)O3恶化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风险问题4：东莞"污染孤岛"现象持续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6720840" cy="425196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东莞污染孤岛_与周边城市污染天数及O3同比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27048"/>
            <a:ext cx="6501383" cy="4032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417320"/>
            <a:ext cx="3337560" cy="4251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东莞O3浓度同比恶化显著，周边城市改善明显，形成"污染孤岛"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5603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O3浓度: 149μg/m³，同比+18μg/m³(+13.7%)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1821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污染天数: 6天O3轻度污染，较2025年同期增加3天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80390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周边对比: 深圳(-3)、广州(-8)、惠州(-5)均改善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42569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可能原因: 局地排放强度大、扩散条件不利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四、管控建议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10332720" cy="2331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1460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4A7C"/>
                </a:solidFill>
                <a:latin typeface="Microsoft YaHei"/>
              </a:rPr>
              <a:t>针对性管控措施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管控建议1：加强CO异常站点排查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2971800"/>
            <a:ext cx="1005840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2148840"/>
            <a:ext cx="1600200" cy="160020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Microsoft YaHei"/>
              </a:rPr>
              <a:t>排查重点: 生物质燃烧、工业燃烧、机动车排放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39" y="2148840"/>
            <a:ext cx="1600200" cy="160020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8999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9" y="278892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Microsoft YaHei"/>
              </a:rPr>
              <a:t>管控措施: 加强现场巡查，严查违法燃烧行为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59" y="2148840"/>
            <a:ext cx="1600200" cy="160020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8892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Microsoft YaHei"/>
              </a:rPr>
              <a:t>时间要求: 6月15日前完成排查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148840"/>
            <a:ext cx="1600200" cy="160020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1234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Microsoft YaHei"/>
              </a:rPr>
              <a:t>责任主体: 各地生态环境部门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管控建议2：强化PM2.5恶化城市管控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10332720" cy="2331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1460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4A7C"/>
                </a:solidFill>
                <a:latin typeface="Microsoft YaHei"/>
              </a:rPr>
              <a:t>清远、汕头、佛山、韶关等城市PM2.5同比上升，需针对性管控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42900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汕头: PM2.5、O3双指标恶化，需协同管控 / 佛山: PM2.5、O3双高，需加强VOCs和NOx协同减排 / 韶关: PM2.5浓度较高，需加强工业源管控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管控建议3：深化O3污染防控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828800"/>
            <a:ext cx="1874519" cy="1965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2410C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57860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/>
              </a:rPr>
              <a:t>东莞: O3同比恶化，形成"污染孤岛"，需排查重点排放源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1874519" cy="1965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2410C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57860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/>
              </a:rPr>
              <a:t>潮州: O3同比大幅上升(+33μg/m³)，需排查工业源和移动源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828800"/>
            <a:ext cx="1874519" cy="1965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2410C"/>
                </a:solidFill>
                <a:latin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2392" y="257860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/>
              </a:rPr>
              <a:t>珠三角核心区: 加强VOCs和NOx协同减排，削减前体物排放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828800"/>
            <a:ext cx="1874519" cy="1965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2410C"/>
                </a:solidFill>
                <a:latin typeface="Microsoft YaHe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257860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Microsoft YaHei"/>
              </a:rPr>
              <a:t>污染预警: 加强O3污染预警预报，提前采取管控措施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74A7C"/>
                </a:solidFill>
                <a:latin typeface="Microsoft YaHei"/>
              </a:rPr>
              <a:t>针对O3污染频发和"污染孤岛"现象，加强VOCs和NOx协同管控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Microsoft YaHei"/>
              </a:rPr>
              <a:t>下一步工作安排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3444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6720840" cy="4251960"/>
          </a:xfrm>
          <a:prstGeom prst="rect">
            <a:avLst/>
          </a:prstGeom>
          <a:solidFill>
            <a:srgbClr val="FFFFFF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3941063"/>
            <a:ext cx="638708" cy="1316736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50008" y="3443630"/>
            <a:ext cx="638708" cy="1814169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11296" y="4145889"/>
            <a:ext cx="638708" cy="1111910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72584" y="3063239"/>
            <a:ext cx="638708" cy="2194560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33872" y="3560673"/>
            <a:ext cx="638708" cy="1697126"/>
          </a:xfrm>
          <a:prstGeom prst="rect">
            <a:avLst/>
          </a:prstGeom>
          <a:solidFill>
            <a:srgbClr val="17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73352"/>
            <a:ext cx="5897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Microsoft YaHei"/>
              </a:rPr>
              <a:t>趋势 / 排名 / 结构图表区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417320"/>
            <a:ext cx="3337560" cy="4251960"/>
          </a:xfrm>
          <a:prstGeom prst="rect">
            <a:avLst/>
          </a:prstGeom>
          <a:solidFill>
            <a:srgbClr val="F8FAFC"/>
          </a:solidFill>
          <a:ln w="1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4A7C"/>
                </a:solidFill>
                <a:latin typeface="Microsoft YaHei"/>
              </a:rPr>
              <a:t>6月重点工作任务和时间节点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603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6月15日前: 完成CO异常站点排查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1821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6月20日前: 提交重点城市管控方案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0390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6月30日前: 开展O3污染防控专项检查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42569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Microsoft YaHei"/>
              </a:rPr>
              <a:t>长期: 建立污染源清单，动态更新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